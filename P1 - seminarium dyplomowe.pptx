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1" r:id="rId4"/>
  </p:sldMasterIdLst>
  <p:sldIdLst>
    <p:sldId id="256" r:id="rId5"/>
    <p:sldId id="259" r:id="rId6"/>
    <p:sldId id="262" r:id="rId7"/>
    <p:sldId id="260" r:id="rId8"/>
    <p:sldId id="261" r:id="rId9"/>
    <p:sldId id="263" r:id="rId10"/>
    <p:sldId id="264" r:id="rId11"/>
    <p:sldId id="265" r:id="rId12"/>
    <p:sldId id="266" r:id="rId13"/>
    <p:sldId id="267" r:id="rId14"/>
    <p:sldId id="258" r:id="rId15"/>
  </p:sldIdLst>
  <p:sldSz cx="12192000" cy="6858000"/>
  <p:notesSz cx="6858000" cy="9144000"/>
  <p:defaultTextStyle>
    <a:defPPr>
      <a:defRPr lang="pl-P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7C9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 pośredni 2 — Ak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3704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666" y="96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acprzyk Marcin (STUD)" userId="2ba64f59-9a52-4945-9bd3-af54d41d4f2d" providerId="ADAL" clId="{4F7F6B39-58D8-48D4-BBE8-86DB6D4F523B}"/>
    <pc:docChg chg="custSel addSld modSld sldOrd">
      <pc:chgData name="Kacprzyk Marcin (STUD)" userId="2ba64f59-9a52-4945-9bd3-af54d41d4f2d" providerId="ADAL" clId="{4F7F6B39-58D8-48D4-BBE8-86DB6D4F523B}" dt="2026-05-25T15:18:48.432" v="1259" actId="680"/>
      <pc:docMkLst>
        <pc:docMk/>
      </pc:docMkLst>
      <pc:sldChg chg="new">
        <pc:chgData name="Kacprzyk Marcin (STUD)" userId="2ba64f59-9a52-4945-9bd3-af54d41d4f2d" providerId="ADAL" clId="{4F7F6B39-58D8-48D4-BBE8-86DB6D4F523B}" dt="2026-05-25T15:18:47.106" v="1257" actId="680"/>
        <pc:sldMkLst>
          <pc:docMk/>
          <pc:sldMk cId="2173834329" sldId="265"/>
        </pc:sldMkLst>
      </pc:sldChg>
      <pc:sldChg chg="new">
        <pc:chgData name="Kacprzyk Marcin (STUD)" userId="2ba64f59-9a52-4945-9bd3-af54d41d4f2d" providerId="ADAL" clId="{4F7F6B39-58D8-48D4-BBE8-86DB6D4F523B}" dt="2026-05-25T15:18:47.666" v="1258" actId="680"/>
        <pc:sldMkLst>
          <pc:docMk/>
          <pc:sldMk cId="2091688801" sldId="266"/>
        </pc:sldMkLst>
      </pc:sldChg>
      <pc:sldChg chg="new">
        <pc:chgData name="Kacprzyk Marcin (STUD)" userId="2ba64f59-9a52-4945-9bd3-af54d41d4f2d" providerId="ADAL" clId="{4F7F6B39-58D8-48D4-BBE8-86DB6D4F523B}" dt="2026-05-25T15:18:48.432" v="1259" actId="680"/>
        <pc:sldMkLst>
          <pc:docMk/>
          <pc:sldMk cId="2231743239" sldId="267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ajd tytuł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62BF6DA1-8065-450D-DD72-26912780E76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61443222-5D8F-3330-9B61-77213BE165F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l-PL"/>
              <a:t>Kliknij, aby edytować styl wzorca podtytułu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A5CC5579-3A55-462C-AB91-DE0A2E1A0D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CB0934-8C48-4B6B-9830-F8B1C8E5331D}" type="datetimeFigureOut">
              <a:rPr lang="pl-PL" smtClean="0"/>
              <a:t>25.05.2026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B1C5B45F-561B-7AFA-E1A9-E30436E669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494D9FA9-3BB0-3D9B-598E-54102A892D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6482EE-12AD-4411-B64F-6A65A02CEA76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4747430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ytuł i zawartoś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0EAD6D02-7A0C-031B-E599-59899212ED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2A1FDD79-B65B-30AA-216F-C9814E2F95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5E6F644F-53B6-FB6D-FD8D-741652F913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CB0934-8C48-4B6B-9830-F8B1C8E5331D}" type="datetimeFigureOut">
              <a:rPr lang="pl-PL" smtClean="0"/>
              <a:t>25.05.2026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BDB02686-9D56-3DD5-2A09-2F0AE543CB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775168D6-B850-DE04-8771-33A27DB736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6482EE-12AD-4411-B64F-6A65A02CEA76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1396258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Nagłówek sekcj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41B21698-FA6E-79F6-6322-BCC50D8F53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3E23D11E-6B7D-0C4F-7510-C83D99D40A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EB5EC281-C3B3-0BB1-FC5A-8ACC6322A7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CB0934-8C48-4B6B-9830-F8B1C8E5331D}" type="datetimeFigureOut">
              <a:rPr lang="pl-PL" smtClean="0"/>
              <a:t>25.05.2026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C5A70B5F-C1E4-DF07-7212-44899EAC02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D478D1E8-5498-F3CE-C2C0-C204586D56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6482EE-12AD-4411-B64F-6A65A02CEA76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4692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wa elementy zawartośc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DE2B15DF-A3CC-A86B-F766-BE44AE5FE7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2BC1BB8A-A11F-8379-EC17-47A52BB86AC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zawartości 3">
            <a:extLst>
              <a:ext uri="{FF2B5EF4-FFF2-40B4-BE49-F238E27FC236}">
                <a16:creationId xmlns:a16="http://schemas.microsoft.com/office/drawing/2014/main" id="{CB29B5F0-7FBD-0139-5B0C-504B36E6CED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39D74ADC-3D3D-D8C0-EF3A-9C12FEF76A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CB0934-8C48-4B6B-9830-F8B1C8E5331D}" type="datetimeFigureOut">
              <a:rPr lang="pl-PL" smtClean="0"/>
              <a:t>25.05.2026</a:t>
            </a:fld>
            <a:endParaRPr lang="pl-PL"/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96C4D0E4-BDF1-24E8-C2F7-E095D04D33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603F09D1-DD57-D265-0B7B-C6F62B1DBB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6482EE-12AD-4411-B64F-6A65A02CEA76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3449834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ówna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78915EA1-D141-FF97-0364-EEC7D09FE3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0BD6532E-ADF1-5BA7-3B0B-7B291F3ECE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Symbol zastępczy zawartości 3">
            <a:extLst>
              <a:ext uri="{FF2B5EF4-FFF2-40B4-BE49-F238E27FC236}">
                <a16:creationId xmlns:a16="http://schemas.microsoft.com/office/drawing/2014/main" id="{54B64E6B-A791-F857-84A0-3D08FED4850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5" name="Symbol zastępczy tekstu 4">
            <a:extLst>
              <a:ext uri="{FF2B5EF4-FFF2-40B4-BE49-F238E27FC236}">
                <a16:creationId xmlns:a16="http://schemas.microsoft.com/office/drawing/2014/main" id="{446244C6-C78A-747B-06B0-171894E839D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6" name="Symbol zastępczy zawartości 5">
            <a:extLst>
              <a:ext uri="{FF2B5EF4-FFF2-40B4-BE49-F238E27FC236}">
                <a16:creationId xmlns:a16="http://schemas.microsoft.com/office/drawing/2014/main" id="{DD764F37-DF82-CA0D-949C-240AADA8C25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7" name="Symbol zastępczy daty 6">
            <a:extLst>
              <a:ext uri="{FF2B5EF4-FFF2-40B4-BE49-F238E27FC236}">
                <a16:creationId xmlns:a16="http://schemas.microsoft.com/office/drawing/2014/main" id="{5157D3C5-66E0-FEFE-2492-1837025098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CB0934-8C48-4B6B-9830-F8B1C8E5331D}" type="datetimeFigureOut">
              <a:rPr lang="pl-PL" smtClean="0"/>
              <a:t>25.05.2026</a:t>
            </a:fld>
            <a:endParaRPr lang="pl-PL"/>
          </a:p>
        </p:txBody>
      </p:sp>
      <p:sp>
        <p:nvSpPr>
          <p:cNvPr id="8" name="Symbol zastępczy stopki 7">
            <a:extLst>
              <a:ext uri="{FF2B5EF4-FFF2-40B4-BE49-F238E27FC236}">
                <a16:creationId xmlns:a16="http://schemas.microsoft.com/office/drawing/2014/main" id="{3540397B-B484-B03A-28B1-3D429DD651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9" name="Symbol zastępczy numeru slajdu 8">
            <a:extLst>
              <a:ext uri="{FF2B5EF4-FFF2-40B4-BE49-F238E27FC236}">
                <a16:creationId xmlns:a16="http://schemas.microsoft.com/office/drawing/2014/main" id="{9D3F9732-03F7-F6EA-4D67-77F621870F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6482EE-12AD-4411-B64F-6A65A02CEA76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9459741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ylko tytu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5A6AC7DB-ABB6-9A5E-8452-4EFEFF4C33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daty 2">
            <a:extLst>
              <a:ext uri="{FF2B5EF4-FFF2-40B4-BE49-F238E27FC236}">
                <a16:creationId xmlns:a16="http://schemas.microsoft.com/office/drawing/2014/main" id="{BFCF297F-73E8-104A-D2A7-67BFCBCCA1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CB0934-8C48-4B6B-9830-F8B1C8E5331D}" type="datetimeFigureOut">
              <a:rPr lang="pl-PL" smtClean="0"/>
              <a:t>25.05.2026</a:t>
            </a:fld>
            <a:endParaRPr lang="pl-PL"/>
          </a:p>
        </p:txBody>
      </p:sp>
      <p:sp>
        <p:nvSpPr>
          <p:cNvPr id="4" name="Symbol zastępczy stopki 3">
            <a:extLst>
              <a:ext uri="{FF2B5EF4-FFF2-40B4-BE49-F238E27FC236}">
                <a16:creationId xmlns:a16="http://schemas.microsoft.com/office/drawing/2014/main" id="{DAFE7354-A8C3-4EE7-F8A4-F337D9759C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5" name="Symbol zastępczy numeru slajdu 4">
            <a:extLst>
              <a:ext uri="{FF2B5EF4-FFF2-40B4-BE49-F238E27FC236}">
                <a16:creationId xmlns:a16="http://schemas.microsoft.com/office/drawing/2014/main" id="{008F7309-3CBD-0250-0D2C-74BF402D06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6482EE-12AD-4411-B64F-6A65A02CEA76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7770077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us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daty 1">
            <a:extLst>
              <a:ext uri="{FF2B5EF4-FFF2-40B4-BE49-F238E27FC236}">
                <a16:creationId xmlns:a16="http://schemas.microsoft.com/office/drawing/2014/main" id="{B9502E15-C705-AB86-96A8-8CD376CABC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CB0934-8C48-4B6B-9830-F8B1C8E5331D}" type="datetimeFigureOut">
              <a:rPr lang="pl-PL" smtClean="0"/>
              <a:t>25.05.2026</a:t>
            </a:fld>
            <a:endParaRPr lang="pl-PL"/>
          </a:p>
        </p:txBody>
      </p:sp>
      <p:sp>
        <p:nvSpPr>
          <p:cNvPr id="3" name="Symbol zastępczy stopki 2">
            <a:extLst>
              <a:ext uri="{FF2B5EF4-FFF2-40B4-BE49-F238E27FC236}">
                <a16:creationId xmlns:a16="http://schemas.microsoft.com/office/drawing/2014/main" id="{FBAF1C45-D3E4-1183-38C9-03F213387D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4" name="Symbol zastępczy numeru slajdu 3">
            <a:extLst>
              <a:ext uri="{FF2B5EF4-FFF2-40B4-BE49-F238E27FC236}">
                <a16:creationId xmlns:a16="http://schemas.microsoft.com/office/drawing/2014/main" id="{3881B38F-8A85-9F18-8482-7BEB60F0B2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6482EE-12AD-4411-B64F-6A65A02CEA76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0784637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Zawartość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99CF1C8A-472B-05C8-10F2-F59CD8F512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0D275AB8-B80A-8541-5D9F-42207CEDBB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tekstu 3">
            <a:extLst>
              <a:ext uri="{FF2B5EF4-FFF2-40B4-BE49-F238E27FC236}">
                <a16:creationId xmlns:a16="http://schemas.microsoft.com/office/drawing/2014/main" id="{7B448ACE-7617-3076-0487-21FD279A884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ACFE05A0-A927-822F-2D39-921F29D051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CB0934-8C48-4B6B-9830-F8B1C8E5331D}" type="datetimeFigureOut">
              <a:rPr lang="pl-PL" smtClean="0"/>
              <a:t>25.05.2026</a:t>
            </a:fld>
            <a:endParaRPr lang="pl-PL"/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FFA2996D-3BB4-08CB-95D4-E85F27CEAF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3C27EC9C-1D36-6101-EA3B-1CD80EF932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6482EE-12AD-4411-B64F-6A65A02CEA76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6391318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az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649E6E2C-CA9A-A51A-D284-1B22C2E452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Symbol zastępczy obrazu 2">
            <a:extLst>
              <a:ext uri="{FF2B5EF4-FFF2-40B4-BE49-F238E27FC236}">
                <a16:creationId xmlns:a16="http://schemas.microsoft.com/office/drawing/2014/main" id="{943F12ED-D89A-3398-93AF-A85E1D668ED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l-PL"/>
          </a:p>
        </p:txBody>
      </p:sp>
      <p:sp>
        <p:nvSpPr>
          <p:cNvPr id="4" name="Symbol zastępczy tekstu 3">
            <a:extLst>
              <a:ext uri="{FF2B5EF4-FFF2-40B4-BE49-F238E27FC236}">
                <a16:creationId xmlns:a16="http://schemas.microsoft.com/office/drawing/2014/main" id="{C59B70C2-598B-E0CC-DF74-B1F10B9AB6C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DCBC85B7-B0D8-0E7C-055E-DE1F3F0258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CB0934-8C48-4B6B-9830-F8B1C8E5331D}" type="datetimeFigureOut">
              <a:rPr lang="pl-PL" smtClean="0"/>
              <a:t>25.05.2026</a:t>
            </a:fld>
            <a:endParaRPr lang="pl-PL"/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A1DEC2AB-4676-812B-F1A5-1659064F1B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01EAE592-902B-4CD8-D5F6-1B78E9C4A6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6482EE-12AD-4411-B64F-6A65A02CEA76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6644117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ytuł i tekst pion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E4D32792-642C-064E-6029-9F169AD41A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ytułu pionowego 2">
            <a:extLst>
              <a:ext uri="{FF2B5EF4-FFF2-40B4-BE49-F238E27FC236}">
                <a16:creationId xmlns:a16="http://schemas.microsoft.com/office/drawing/2014/main" id="{388EF2E1-35C4-6993-4D38-2594A1F73DD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976A750D-E2EE-17BB-36AD-7EBC846F9C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CB0934-8C48-4B6B-9830-F8B1C8E5331D}" type="datetimeFigureOut">
              <a:rPr lang="pl-PL" smtClean="0"/>
              <a:t>25.05.2026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D9773DB9-98BB-3623-8BF8-54E066D799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2DE52B14-9A72-2FDB-3E75-B21258CD9F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6482EE-12AD-4411-B64F-6A65A02CEA76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6395984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ytuł pionowy i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pionowy 1">
            <a:extLst>
              <a:ext uri="{FF2B5EF4-FFF2-40B4-BE49-F238E27FC236}">
                <a16:creationId xmlns:a16="http://schemas.microsoft.com/office/drawing/2014/main" id="{3737036A-5536-1BA6-22E6-F0A0E70C0D2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ytułu pionowego 2">
            <a:extLst>
              <a:ext uri="{FF2B5EF4-FFF2-40B4-BE49-F238E27FC236}">
                <a16:creationId xmlns:a16="http://schemas.microsoft.com/office/drawing/2014/main" id="{853FA8B0-0AD8-778B-8813-59868E08E14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8BE3B72F-AF80-7A37-7D27-227A599F65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CB0934-8C48-4B6B-9830-F8B1C8E5331D}" type="datetimeFigureOut">
              <a:rPr lang="pl-PL" smtClean="0"/>
              <a:t>25.05.2026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90FFC0ED-A2E6-D959-017D-C544826C74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9FEA0CE4-1A12-E020-E44B-77D7DE8331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6482EE-12AD-4411-B64F-6A65A02CEA76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8744313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Układ niestandard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582C8D0B-04D7-623D-D450-44EC96EDCB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daty 2">
            <a:extLst>
              <a:ext uri="{FF2B5EF4-FFF2-40B4-BE49-F238E27FC236}">
                <a16:creationId xmlns:a16="http://schemas.microsoft.com/office/drawing/2014/main" id="{231B636F-5B68-7C31-8D13-96C5ECE1B1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CB0934-8C48-4B6B-9830-F8B1C8E5331D}" type="datetimeFigureOut">
              <a:rPr lang="pl-PL" smtClean="0"/>
              <a:t>25.05.2026</a:t>
            </a:fld>
            <a:endParaRPr lang="pl-PL"/>
          </a:p>
        </p:txBody>
      </p:sp>
      <p:sp>
        <p:nvSpPr>
          <p:cNvPr id="4" name="Symbol zastępczy stopki 3">
            <a:extLst>
              <a:ext uri="{FF2B5EF4-FFF2-40B4-BE49-F238E27FC236}">
                <a16:creationId xmlns:a16="http://schemas.microsoft.com/office/drawing/2014/main" id="{DEC1DAE9-5927-C434-3E14-A0F26D4C13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5" name="Symbol zastępczy numeru slajdu 4">
            <a:extLst>
              <a:ext uri="{FF2B5EF4-FFF2-40B4-BE49-F238E27FC236}">
                <a16:creationId xmlns:a16="http://schemas.microsoft.com/office/drawing/2014/main" id="{A96892BF-5FBE-3A39-EFCC-B0E8CF9EEC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6482EE-12AD-4411-B64F-6A65A02CEA76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6942675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tytułu 1">
            <a:extLst>
              <a:ext uri="{FF2B5EF4-FFF2-40B4-BE49-F238E27FC236}">
                <a16:creationId xmlns:a16="http://schemas.microsoft.com/office/drawing/2014/main" id="{389FE219-A92A-D1DD-9076-FBF21B1D64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59E66A74-3559-628B-75EE-E96151D79B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5A1A98AE-73A5-EE15-60CD-020F3F76B82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3CB0934-8C48-4B6B-9830-F8B1C8E5331D}" type="datetimeFigureOut">
              <a:rPr lang="pl-PL" smtClean="0"/>
              <a:t>25.05.2026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06AB3D98-D64F-782C-E352-647AA5D65B7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86AD50F8-DF56-FA79-23F0-93B77ABE80E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06482EE-12AD-4411-B64F-6A65A02CEA76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4168570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l-P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pdf/2402.07181" TargetMode="External"/><Relationship Id="rId2" Type="http://schemas.openxmlformats.org/officeDocument/2006/relationships/hyperlink" Target="https://repo-sam.inria.fr/fungraph/3d-gaussian-splatting/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openaccess.thecvf.com/content/CVPR2024/papers/Niedermayr_Compressed_3D_Gaussian_Splatting_for_Accelerated_Novel_View_Synthesis_CVPR_2024_paper.pdf" TargetMode="External"/><Relationship Id="rId4" Type="http://schemas.openxmlformats.org/officeDocument/2006/relationships/hyperlink" Target="https://doi.org/10.1038/s40494-025-02063-5" TargetMode="Externa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ole tekstowe 5">
            <a:extLst>
              <a:ext uri="{FF2B5EF4-FFF2-40B4-BE49-F238E27FC236}">
                <a16:creationId xmlns:a16="http://schemas.microsoft.com/office/drawing/2014/main" id="{3CF06F40-6CDD-1882-5D7C-5B212074BC64}"/>
              </a:ext>
            </a:extLst>
          </p:cNvPr>
          <p:cNvSpPr txBox="1"/>
          <p:nvPr/>
        </p:nvSpPr>
        <p:spPr>
          <a:xfrm>
            <a:off x="4991371" y="713296"/>
            <a:ext cx="569934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dirty="0">
                <a:solidFill>
                  <a:schemeClr val="bg1"/>
                </a:solidFill>
                <a:latin typeface="Source Sans Pro Light" panose="020B0403030403020204" pitchFamily="34" charset="0"/>
                <a:ea typeface="Source Serif Pro" panose="02040603050405020204" pitchFamily="18" charset="0"/>
              </a:rPr>
              <a:t>Wydział Geodezji i Kartografii</a:t>
            </a:r>
          </a:p>
          <a:p>
            <a:r>
              <a:rPr lang="pl-PL" dirty="0">
                <a:solidFill>
                  <a:schemeClr val="bg1"/>
                </a:solidFill>
                <a:ea typeface="Source Serif Pro" panose="02040603050405020204" pitchFamily="18" charset="0"/>
              </a:rPr>
              <a:t>Politechnika Warszawska</a:t>
            </a:r>
          </a:p>
        </p:txBody>
      </p:sp>
      <p:sp>
        <p:nvSpPr>
          <p:cNvPr id="7" name="pole tekstowe 6">
            <a:extLst>
              <a:ext uri="{FF2B5EF4-FFF2-40B4-BE49-F238E27FC236}">
                <a16:creationId xmlns:a16="http://schemas.microsoft.com/office/drawing/2014/main" id="{0CBC331D-8069-B1C8-0B2C-BC64036C1009}"/>
              </a:ext>
            </a:extLst>
          </p:cNvPr>
          <p:cNvSpPr txBox="1"/>
          <p:nvPr/>
        </p:nvSpPr>
        <p:spPr>
          <a:xfrm>
            <a:off x="4991370" y="1950181"/>
            <a:ext cx="5699343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3200" dirty="0">
                <a:solidFill>
                  <a:schemeClr val="bg1"/>
                </a:solidFill>
                <a:latin typeface="Source Sans Pro Light" panose="020B0403030403020204" pitchFamily="34" charset="0"/>
              </a:rPr>
              <a:t>Opracowanie narzędzia webowego do wyświetlania i edycji danych 3D w postaci </a:t>
            </a:r>
            <a:r>
              <a:rPr lang="pl-PL" sz="3200" dirty="0" err="1">
                <a:solidFill>
                  <a:schemeClr val="bg1"/>
                </a:solidFill>
                <a:latin typeface="Source Sans Pro Light" panose="020B0403030403020204" pitchFamily="34" charset="0"/>
              </a:rPr>
              <a:t>Gaussian</a:t>
            </a:r>
            <a:r>
              <a:rPr lang="pl-PL" sz="3200" dirty="0">
                <a:solidFill>
                  <a:schemeClr val="bg1"/>
                </a:solidFill>
                <a:latin typeface="Source Sans Pro Light" panose="020B0403030403020204" pitchFamily="34" charset="0"/>
              </a:rPr>
              <a:t> </a:t>
            </a:r>
            <a:r>
              <a:rPr lang="pl-PL" sz="3200" dirty="0" err="1">
                <a:solidFill>
                  <a:schemeClr val="bg1"/>
                </a:solidFill>
                <a:latin typeface="Source Sans Pro Light" panose="020B0403030403020204" pitchFamily="34" charset="0"/>
              </a:rPr>
              <a:t>Splatting</a:t>
            </a:r>
            <a:endParaRPr lang="pl-PL" sz="3200" dirty="0">
              <a:solidFill>
                <a:schemeClr val="bg1"/>
              </a:solidFill>
              <a:latin typeface="Source Sans Pro Light" panose="020B0403030403020204" pitchFamily="34" charset="0"/>
            </a:endParaRPr>
          </a:p>
        </p:txBody>
      </p:sp>
      <p:sp>
        <p:nvSpPr>
          <p:cNvPr id="8" name="pole tekstowe 7">
            <a:extLst>
              <a:ext uri="{FF2B5EF4-FFF2-40B4-BE49-F238E27FC236}">
                <a16:creationId xmlns:a16="http://schemas.microsoft.com/office/drawing/2014/main" id="{B6F5D76B-1818-C235-38F9-3C9C21303C79}"/>
              </a:ext>
            </a:extLst>
          </p:cNvPr>
          <p:cNvSpPr txBox="1"/>
          <p:nvPr/>
        </p:nvSpPr>
        <p:spPr>
          <a:xfrm>
            <a:off x="4991369" y="4139774"/>
            <a:ext cx="569934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2000" dirty="0">
                <a:solidFill>
                  <a:schemeClr val="bg1"/>
                </a:solidFill>
                <a:latin typeface="Source Sans Pro Light" panose="020B0403030403020204" pitchFamily="34" charset="0"/>
              </a:rPr>
              <a:t>Dyplomant: Marcin Kacprzyk</a:t>
            </a:r>
          </a:p>
          <a:p>
            <a:r>
              <a:rPr lang="pl-PL" sz="2000" dirty="0">
                <a:solidFill>
                  <a:schemeClr val="bg1"/>
                </a:solidFill>
                <a:latin typeface="Source Sans Pro Light" panose="020B0403030403020204" pitchFamily="34" charset="0"/>
              </a:rPr>
              <a:t>Promotorzy: dr inż. Wojciech Ostrowski</a:t>
            </a:r>
          </a:p>
          <a:p>
            <a:r>
              <a:rPr lang="pl-PL" sz="2000" dirty="0">
                <a:solidFill>
                  <a:schemeClr val="bg1"/>
                </a:solidFill>
                <a:latin typeface="Source Sans Pro Light" panose="020B0403030403020204" pitchFamily="34" charset="0"/>
              </a:rPr>
              <a:t>	        mgr inż. Łukasz Wilk</a:t>
            </a:r>
          </a:p>
        </p:txBody>
      </p:sp>
      <p:sp>
        <p:nvSpPr>
          <p:cNvPr id="10" name="pole tekstowe 9">
            <a:extLst>
              <a:ext uri="{FF2B5EF4-FFF2-40B4-BE49-F238E27FC236}">
                <a16:creationId xmlns:a16="http://schemas.microsoft.com/office/drawing/2014/main" id="{6C22A504-080D-AED3-DD7B-D7F4C7F66CAE}"/>
              </a:ext>
            </a:extLst>
          </p:cNvPr>
          <p:cNvSpPr txBox="1"/>
          <p:nvPr/>
        </p:nvSpPr>
        <p:spPr>
          <a:xfrm>
            <a:off x="4991371" y="5590706"/>
            <a:ext cx="23512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>
                <a:solidFill>
                  <a:schemeClr val="bg1"/>
                </a:solidFill>
                <a:latin typeface="Source Sans Pro Light" panose="020B0403030403020204" pitchFamily="34" charset="0"/>
              </a:rPr>
              <a:t>25.03.2026r</a:t>
            </a:r>
            <a:r>
              <a:rPr lang="pl-PL" dirty="0">
                <a:solidFill>
                  <a:schemeClr val="bg1"/>
                </a:solidFill>
                <a:latin typeface="Source Sans Pro Light" panose="020B0403030403020204" pitchFamily="34" charset="0"/>
              </a:rPr>
              <a:t>.</a:t>
            </a:r>
          </a:p>
        </p:txBody>
      </p:sp>
      <p:pic>
        <p:nvPicPr>
          <p:cNvPr id="3" name="Obraz 2" descr="Obraz zawierający szkic, Grafika liniowa, clipart, rysowanie&#10;&#10;Opis wygenerowany automatycznie">
            <a:extLst>
              <a:ext uri="{FF2B5EF4-FFF2-40B4-BE49-F238E27FC236}">
                <a16:creationId xmlns:a16="http://schemas.microsoft.com/office/drawing/2014/main" id="{50994E5F-C2C3-23CF-A147-82B4296038AB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4104" y="713296"/>
            <a:ext cx="4259787" cy="42951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69767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ole tekstowe 6">
            <a:extLst>
              <a:ext uri="{FF2B5EF4-FFF2-40B4-BE49-F238E27FC236}">
                <a16:creationId xmlns:a16="http://schemas.microsoft.com/office/drawing/2014/main" id="{E29AE5D5-216A-8F8A-666A-883663F0294A}"/>
              </a:ext>
            </a:extLst>
          </p:cNvPr>
          <p:cNvSpPr txBox="1"/>
          <p:nvPr/>
        </p:nvSpPr>
        <p:spPr>
          <a:xfrm>
            <a:off x="460427" y="475694"/>
            <a:ext cx="499997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4000" dirty="0">
                <a:solidFill>
                  <a:schemeClr val="bg2">
                    <a:lumMod val="10000"/>
                  </a:schemeClr>
                </a:solidFill>
                <a:latin typeface="Source Sans Pro Light" panose="020B0403030403020204" pitchFamily="34" charset="0"/>
              </a:rPr>
              <a:t>PROBLEM INŻYNIERSKI</a:t>
            </a:r>
          </a:p>
        </p:txBody>
      </p:sp>
      <p:sp>
        <p:nvSpPr>
          <p:cNvPr id="3" name="pole tekstowe 2">
            <a:extLst>
              <a:ext uri="{FF2B5EF4-FFF2-40B4-BE49-F238E27FC236}">
                <a16:creationId xmlns:a16="http://schemas.microsoft.com/office/drawing/2014/main" id="{A0A212D7-F86C-589D-3691-4CB2696B9009}"/>
              </a:ext>
            </a:extLst>
          </p:cNvPr>
          <p:cNvSpPr txBox="1"/>
          <p:nvPr/>
        </p:nvSpPr>
        <p:spPr>
          <a:xfrm>
            <a:off x="460428" y="1619652"/>
            <a:ext cx="8440976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2000" dirty="0">
                <a:solidFill>
                  <a:schemeClr val="bg2">
                    <a:lumMod val="10000"/>
                  </a:schemeClr>
                </a:solidFill>
              </a:rPr>
              <a:t>Głównym problemem inżynierskim niniejszej pracy jest przygotowanie platformy webowej pozwalającej na wizualizację i podstawową edycję danych przestrzennych udostępnianych w formie </a:t>
            </a:r>
            <a:r>
              <a:rPr lang="pl-PL" sz="2000" dirty="0" err="1">
                <a:solidFill>
                  <a:schemeClr val="bg2">
                    <a:lumMod val="10000"/>
                  </a:schemeClr>
                </a:solidFill>
              </a:rPr>
              <a:t>Gaussian</a:t>
            </a:r>
            <a:r>
              <a:rPr lang="pl-PL" sz="2000" dirty="0">
                <a:solidFill>
                  <a:schemeClr val="bg2">
                    <a:lumMod val="10000"/>
                  </a:schemeClr>
                </a:solidFill>
              </a:rPr>
              <a:t> </a:t>
            </a:r>
            <a:r>
              <a:rPr lang="pl-PL" sz="2000" dirty="0" err="1">
                <a:solidFill>
                  <a:schemeClr val="bg2">
                    <a:lumMod val="10000"/>
                  </a:schemeClr>
                </a:solidFill>
              </a:rPr>
              <a:t>Splatting</a:t>
            </a:r>
            <a:r>
              <a:rPr lang="pl-PL" sz="2000" dirty="0">
                <a:solidFill>
                  <a:schemeClr val="bg2">
                    <a:lumMod val="10000"/>
                  </a:schemeClr>
                </a:solidFill>
              </a:rPr>
              <a:t>. Wyzwaniem jest połączenie poszczególnych komponentów systemu (wyszukiwarka, mapa podglądowa i </a:t>
            </a:r>
            <a:r>
              <a:rPr lang="pl-PL" sz="2000" dirty="0" err="1">
                <a:solidFill>
                  <a:schemeClr val="bg2">
                    <a:lumMod val="10000"/>
                  </a:schemeClr>
                </a:solidFill>
              </a:rPr>
              <a:t>viewer</a:t>
            </a:r>
            <a:r>
              <a:rPr lang="pl-PL" sz="2000" dirty="0">
                <a:solidFill>
                  <a:schemeClr val="bg2">
                    <a:lumMod val="10000"/>
                  </a:schemeClr>
                </a:solidFill>
              </a:rPr>
              <a:t> 3D, edytor), przy jednoczesnym zachowaniu łatwego w obsłudze </a:t>
            </a:r>
            <a:r>
              <a:rPr lang="pl-PL" sz="2000" dirty="0" err="1">
                <a:solidFill>
                  <a:schemeClr val="bg2">
                    <a:lumMod val="10000"/>
                  </a:schemeClr>
                </a:solidFill>
              </a:rPr>
              <a:t>interface</a:t>
            </a:r>
            <a:r>
              <a:rPr lang="pl-PL" sz="2000" dirty="0">
                <a:solidFill>
                  <a:schemeClr val="bg2">
                    <a:lumMod val="10000"/>
                  </a:schemeClr>
                </a:solidFill>
              </a:rPr>
              <a:t>.</a:t>
            </a:r>
          </a:p>
          <a:p>
            <a:r>
              <a:rPr lang="pl-PL" sz="2000" dirty="0">
                <a:solidFill>
                  <a:schemeClr val="bg2">
                    <a:lumMod val="10000"/>
                  </a:schemeClr>
                </a:solidFill>
              </a:rPr>
              <a:t> </a:t>
            </a:r>
          </a:p>
        </p:txBody>
      </p:sp>
    </p:spTree>
    <p:extLst>
      <p:ext uri="{BB962C8B-B14F-4D97-AF65-F5344CB8AC3E}">
        <p14:creationId xmlns:p14="http://schemas.microsoft.com/office/powerpoint/2010/main" val="33852650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341066-14AF-9FEF-FA5D-879DADA9A0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ole tekstowe 6">
            <a:extLst>
              <a:ext uri="{FF2B5EF4-FFF2-40B4-BE49-F238E27FC236}">
                <a16:creationId xmlns:a16="http://schemas.microsoft.com/office/drawing/2014/main" id="{D5D3F841-B636-DEBD-650D-FA4DB53004D7}"/>
              </a:ext>
            </a:extLst>
          </p:cNvPr>
          <p:cNvSpPr txBox="1"/>
          <p:nvPr/>
        </p:nvSpPr>
        <p:spPr>
          <a:xfrm>
            <a:off x="637708" y="578331"/>
            <a:ext cx="499997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4000" dirty="0">
                <a:solidFill>
                  <a:schemeClr val="bg2">
                    <a:lumMod val="10000"/>
                  </a:schemeClr>
                </a:solidFill>
                <a:latin typeface="Source Sans Pro Light" panose="020B0403030403020204" pitchFamily="34" charset="0"/>
              </a:rPr>
              <a:t>CEL</a:t>
            </a:r>
          </a:p>
        </p:txBody>
      </p:sp>
      <p:sp>
        <p:nvSpPr>
          <p:cNvPr id="8" name="pole tekstowe 7">
            <a:extLst>
              <a:ext uri="{FF2B5EF4-FFF2-40B4-BE49-F238E27FC236}">
                <a16:creationId xmlns:a16="http://schemas.microsoft.com/office/drawing/2014/main" id="{99A07675-45C9-870E-27DC-38A431E72B02}"/>
              </a:ext>
            </a:extLst>
          </p:cNvPr>
          <p:cNvSpPr txBox="1"/>
          <p:nvPr/>
        </p:nvSpPr>
        <p:spPr>
          <a:xfrm>
            <a:off x="637707" y="1453128"/>
            <a:ext cx="6938749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2400" dirty="0">
                <a:solidFill>
                  <a:schemeClr val="bg2">
                    <a:lumMod val="10000"/>
                  </a:schemeClr>
                </a:solidFill>
                <a:latin typeface="Source Sans Pro Light" panose="020B0403030403020204" pitchFamily="34" charset="0"/>
                <a:ea typeface="Source Sans Pro Light" panose="020B0403030403020204" pitchFamily="34" charset="0"/>
              </a:rPr>
              <a:t>Celem pracy jest opracowanie i implementacja narzędzia webowego umożliwiającego wizualizację, interaktywną eksplorację oraz edycję danych zapisanych w formacie </a:t>
            </a:r>
            <a:r>
              <a:rPr lang="pl-PL" sz="2400" dirty="0" err="1">
                <a:solidFill>
                  <a:schemeClr val="bg2">
                    <a:lumMod val="10000"/>
                  </a:schemeClr>
                </a:solidFill>
                <a:latin typeface="Source Sans Pro Light" panose="020B0403030403020204" pitchFamily="34" charset="0"/>
                <a:ea typeface="Source Sans Pro Light" panose="020B0403030403020204" pitchFamily="34" charset="0"/>
              </a:rPr>
              <a:t>Gaussian</a:t>
            </a:r>
            <a:r>
              <a:rPr lang="pl-PL" sz="2400" dirty="0">
                <a:solidFill>
                  <a:schemeClr val="bg2">
                    <a:lumMod val="10000"/>
                  </a:schemeClr>
                </a:solidFill>
                <a:latin typeface="Source Sans Pro Light" panose="020B0403030403020204" pitchFamily="34" charset="0"/>
                <a:ea typeface="Source Sans Pro Light" panose="020B0403030403020204" pitchFamily="34" charset="0"/>
              </a:rPr>
              <a:t> </a:t>
            </a:r>
            <a:r>
              <a:rPr lang="pl-PL" sz="2400" dirty="0" err="1">
                <a:solidFill>
                  <a:schemeClr val="bg2">
                    <a:lumMod val="10000"/>
                  </a:schemeClr>
                </a:solidFill>
                <a:latin typeface="Source Sans Pro Light" panose="020B0403030403020204" pitchFamily="34" charset="0"/>
                <a:ea typeface="Source Sans Pro Light" panose="020B0403030403020204" pitchFamily="34" charset="0"/>
              </a:rPr>
              <a:t>Splatting</a:t>
            </a:r>
            <a:r>
              <a:rPr lang="pl-PL" sz="2400" dirty="0">
                <a:solidFill>
                  <a:schemeClr val="bg2">
                    <a:lumMod val="10000"/>
                  </a:schemeClr>
                </a:solidFill>
                <a:latin typeface="Source Sans Pro Light" panose="020B0403030403020204" pitchFamily="34" charset="0"/>
                <a:ea typeface="Source Sans Pro Light" panose="020B0403030403020204" pitchFamily="34" charset="0"/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7330694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Grafika 18">
            <a:extLst>
              <a:ext uri="{FF2B5EF4-FFF2-40B4-BE49-F238E27FC236}">
                <a16:creationId xmlns:a16="http://schemas.microsoft.com/office/drawing/2014/main" id="{8C3CFF1F-52DC-3490-D293-D228F8DF6A01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96027" y="0"/>
            <a:ext cx="1252727" cy="1780736"/>
          </a:xfrm>
          <a:prstGeom prst="rect">
            <a:avLst/>
          </a:prstGeom>
        </p:spPr>
      </p:pic>
      <p:sp>
        <p:nvSpPr>
          <p:cNvPr id="20" name="pole tekstowe 19">
            <a:extLst>
              <a:ext uri="{FF2B5EF4-FFF2-40B4-BE49-F238E27FC236}">
                <a16:creationId xmlns:a16="http://schemas.microsoft.com/office/drawing/2014/main" id="{DA7C4B59-9B8D-C16D-1201-5FC12125EDF7}"/>
              </a:ext>
            </a:extLst>
          </p:cNvPr>
          <p:cNvSpPr txBox="1"/>
          <p:nvPr/>
        </p:nvSpPr>
        <p:spPr>
          <a:xfrm>
            <a:off x="2629588" y="160326"/>
            <a:ext cx="569934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2000" dirty="0">
                <a:solidFill>
                  <a:schemeClr val="bg1"/>
                </a:solidFill>
                <a:latin typeface="Source Sans Pro Light" panose="020B0403030403020204" pitchFamily="34" charset="0"/>
              </a:rPr>
              <a:t>Tytuł prezentacji</a:t>
            </a:r>
          </a:p>
        </p:txBody>
      </p:sp>
      <p:sp>
        <p:nvSpPr>
          <p:cNvPr id="2" name="Prostokąt 1">
            <a:extLst>
              <a:ext uri="{FF2B5EF4-FFF2-40B4-BE49-F238E27FC236}">
                <a16:creationId xmlns:a16="http://schemas.microsoft.com/office/drawing/2014/main" id="{6391DFB6-1690-7FB2-CC36-5A7329D4AD6F}"/>
              </a:ext>
            </a:extLst>
          </p:cNvPr>
          <p:cNvSpPr/>
          <p:nvPr/>
        </p:nvSpPr>
        <p:spPr>
          <a:xfrm>
            <a:off x="1267132" y="2358154"/>
            <a:ext cx="2724912" cy="3803904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 dirty="0"/>
          </a:p>
        </p:txBody>
      </p:sp>
      <p:sp>
        <p:nvSpPr>
          <p:cNvPr id="3" name="Prostokąt 2">
            <a:extLst>
              <a:ext uri="{FF2B5EF4-FFF2-40B4-BE49-F238E27FC236}">
                <a16:creationId xmlns:a16="http://schemas.microsoft.com/office/drawing/2014/main" id="{D6721F15-4DEA-99B9-2707-E63D463254C3}"/>
              </a:ext>
            </a:extLst>
          </p:cNvPr>
          <p:cNvSpPr/>
          <p:nvPr/>
        </p:nvSpPr>
        <p:spPr>
          <a:xfrm>
            <a:off x="4819096" y="2358154"/>
            <a:ext cx="2724912" cy="3803904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001">
            <a:schemeClr val="dk2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 dirty="0"/>
          </a:p>
        </p:txBody>
      </p:sp>
      <p:sp>
        <p:nvSpPr>
          <p:cNvPr id="4" name="Prostokąt 3">
            <a:extLst>
              <a:ext uri="{FF2B5EF4-FFF2-40B4-BE49-F238E27FC236}">
                <a16:creationId xmlns:a16="http://schemas.microsoft.com/office/drawing/2014/main" id="{9ACFE09C-32A5-843C-FE7B-82F73E952EB8}"/>
              </a:ext>
            </a:extLst>
          </p:cNvPr>
          <p:cNvSpPr/>
          <p:nvPr/>
        </p:nvSpPr>
        <p:spPr>
          <a:xfrm>
            <a:off x="8371061" y="2358154"/>
            <a:ext cx="2724912" cy="3803904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 dirty="0"/>
          </a:p>
        </p:txBody>
      </p:sp>
      <p:sp>
        <p:nvSpPr>
          <p:cNvPr id="6" name="pole tekstowe 5">
            <a:extLst>
              <a:ext uri="{FF2B5EF4-FFF2-40B4-BE49-F238E27FC236}">
                <a16:creationId xmlns:a16="http://schemas.microsoft.com/office/drawing/2014/main" id="{86BD307D-D05F-C6AB-47DA-91F22952FCF4}"/>
              </a:ext>
            </a:extLst>
          </p:cNvPr>
          <p:cNvSpPr txBox="1"/>
          <p:nvPr/>
        </p:nvSpPr>
        <p:spPr>
          <a:xfrm>
            <a:off x="1581912" y="2807174"/>
            <a:ext cx="178307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2000" dirty="0">
                <a:solidFill>
                  <a:schemeClr val="bg1"/>
                </a:solidFill>
              </a:rPr>
              <a:t>Zadanie 1</a:t>
            </a:r>
          </a:p>
        </p:txBody>
      </p:sp>
      <p:sp>
        <p:nvSpPr>
          <p:cNvPr id="18" name="pole tekstowe 17">
            <a:extLst>
              <a:ext uri="{FF2B5EF4-FFF2-40B4-BE49-F238E27FC236}">
                <a16:creationId xmlns:a16="http://schemas.microsoft.com/office/drawing/2014/main" id="{6A42DB7B-FD93-A98F-8992-B27F361C6F45}"/>
              </a:ext>
            </a:extLst>
          </p:cNvPr>
          <p:cNvSpPr txBox="1"/>
          <p:nvPr/>
        </p:nvSpPr>
        <p:spPr>
          <a:xfrm>
            <a:off x="5099304" y="2807174"/>
            <a:ext cx="178307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2000" dirty="0">
                <a:solidFill>
                  <a:schemeClr val="bg1"/>
                </a:solidFill>
              </a:rPr>
              <a:t>Zadanie 2</a:t>
            </a:r>
          </a:p>
        </p:txBody>
      </p:sp>
      <p:sp>
        <p:nvSpPr>
          <p:cNvPr id="21" name="pole tekstowe 20">
            <a:extLst>
              <a:ext uri="{FF2B5EF4-FFF2-40B4-BE49-F238E27FC236}">
                <a16:creationId xmlns:a16="http://schemas.microsoft.com/office/drawing/2014/main" id="{E0DE6813-00B6-4DA0-EF0D-ED1A8A8DC12D}"/>
              </a:ext>
            </a:extLst>
          </p:cNvPr>
          <p:cNvSpPr txBox="1"/>
          <p:nvPr/>
        </p:nvSpPr>
        <p:spPr>
          <a:xfrm>
            <a:off x="8689848" y="2807174"/>
            <a:ext cx="178307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2000">
                <a:solidFill>
                  <a:schemeClr val="bg1"/>
                </a:solidFill>
              </a:rPr>
              <a:t>Zadanie 3</a:t>
            </a:r>
            <a:endParaRPr lang="pl-PL" sz="2000" dirty="0">
              <a:solidFill>
                <a:schemeClr val="bg1"/>
              </a:solidFill>
            </a:endParaRPr>
          </a:p>
        </p:txBody>
      </p:sp>
      <p:sp>
        <p:nvSpPr>
          <p:cNvPr id="22" name="pole tekstowe 21">
            <a:extLst>
              <a:ext uri="{FF2B5EF4-FFF2-40B4-BE49-F238E27FC236}">
                <a16:creationId xmlns:a16="http://schemas.microsoft.com/office/drawing/2014/main" id="{029D6EE5-129A-3B00-626D-F11E47A532AC}"/>
              </a:ext>
            </a:extLst>
          </p:cNvPr>
          <p:cNvSpPr txBox="1"/>
          <p:nvPr/>
        </p:nvSpPr>
        <p:spPr>
          <a:xfrm>
            <a:off x="1586546" y="3418128"/>
            <a:ext cx="2086084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1600" dirty="0">
                <a:solidFill>
                  <a:schemeClr val="bg1"/>
                </a:solidFill>
              </a:rPr>
              <a:t>Przeprowadzenie testów dostępnych narzędzi do wizualizacji/edycji na danych testowych</a:t>
            </a:r>
          </a:p>
        </p:txBody>
      </p:sp>
      <p:sp>
        <p:nvSpPr>
          <p:cNvPr id="23" name="pole tekstowe 22">
            <a:extLst>
              <a:ext uri="{FF2B5EF4-FFF2-40B4-BE49-F238E27FC236}">
                <a16:creationId xmlns:a16="http://schemas.microsoft.com/office/drawing/2014/main" id="{701AF46D-BFBA-B394-4E5C-5F8633651436}"/>
              </a:ext>
            </a:extLst>
          </p:cNvPr>
          <p:cNvSpPr txBox="1"/>
          <p:nvPr/>
        </p:nvSpPr>
        <p:spPr>
          <a:xfrm>
            <a:off x="5099304" y="3418128"/>
            <a:ext cx="2086084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1600" dirty="0">
                <a:solidFill>
                  <a:schemeClr val="bg1"/>
                </a:solidFill>
              </a:rPr>
              <a:t>Integracja modułów systemowych w zintegrowane środowisko do pracy z danymi 3D</a:t>
            </a:r>
            <a:endParaRPr lang="pl-PL" sz="1600" dirty="0">
              <a:solidFill>
                <a:schemeClr val="bg1"/>
              </a:solidFill>
              <a:latin typeface="Source Sans Pro" charset="0"/>
              <a:ea typeface="Source Sans Pro" charset="0"/>
              <a:cs typeface="Source Sans Pro" charset="0"/>
            </a:endParaRPr>
          </a:p>
        </p:txBody>
      </p:sp>
      <p:sp>
        <p:nvSpPr>
          <p:cNvPr id="24" name="pole tekstowe 23">
            <a:extLst>
              <a:ext uri="{FF2B5EF4-FFF2-40B4-BE49-F238E27FC236}">
                <a16:creationId xmlns:a16="http://schemas.microsoft.com/office/drawing/2014/main" id="{97569D6E-A2FA-D586-B24C-D5D904E01BB0}"/>
              </a:ext>
            </a:extLst>
          </p:cNvPr>
          <p:cNvSpPr txBox="1"/>
          <p:nvPr/>
        </p:nvSpPr>
        <p:spPr>
          <a:xfrm>
            <a:off x="8690475" y="3418128"/>
            <a:ext cx="2086084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1600" dirty="0">
                <a:solidFill>
                  <a:schemeClr val="bg1"/>
                </a:solidFill>
              </a:rPr>
              <a:t>Budowa interaktywnego edytora i interfejsu użytkownika</a:t>
            </a:r>
            <a:br>
              <a:rPr lang="pl-PL" sz="1600" dirty="0">
                <a:solidFill>
                  <a:schemeClr val="bg1"/>
                </a:solidFill>
              </a:rPr>
            </a:br>
            <a:endParaRPr lang="pl-PL" sz="1600" dirty="0">
              <a:solidFill>
                <a:schemeClr val="bg1"/>
              </a:solidFill>
              <a:latin typeface="Source Sans Pro" charset="0"/>
              <a:ea typeface="Source Sans Pro" charset="0"/>
              <a:cs typeface="Source Sans Pro" charset="0"/>
            </a:endParaRPr>
          </a:p>
        </p:txBody>
      </p:sp>
      <p:sp>
        <p:nvSpPr>
          <p:cNvPr id="7" name="Prostokąt 6">
            <a:extLst>
              <a:ext uri="{FF2B5EF4-FFF2-40B4-BE49-F238E27FC236}">
                <a16:creationId xmlns:a16="http://schemas.microsoft.com/office/drawing/2014/main" id="{4D56F966-9742-BA3C-D1D2-32049E156C8A}"/>
              </a:ext>
            </a:extLst>
          </p:cNvPr>
          <p:cNvSpPr/>
          <p:nvPr/>
        </p:nvSpPr>
        <p:spPr>
          <a:xfrm>
            <a:off x="0" y="0"/>
            <a:ext cx="12192000" cy="804672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8" name="pole tekstowe 7">
            <a:extLst>
              <a:ext uri="{FF2B5EF4-FFF2-40B4-BE49-F238E27FC236}">
                <a16:creationId xmlns:a16="http://schemas.microsoft.com/office/drawing/2014/main" id="{1150316B-4349-97DE-2D5C-572C46920CB2}"/>
              </a:ext>
            </a:extLst>
          </p:cNvPr>
          <p:cNvSpPr txBox="1"/>
          <p:nvPr/>
        </p:nvSpPr>
        <p:spPr>
          <a:xfrm>
            <a:off x="2385330" y="202280"/>
            <a:ext cx="569934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2000" dirty="0">
                <a:solidFill>
                  <a:schemeClr val="bg1"/>
                </a:solidFill>
                <a:latin typeface="Source Sans Pro Light" panose="020B0403030403020204" pitchFamily="34" charset="0"/>
              </a:rPr>
              <a:t>Tytuł prezentacji</a:t>
            </a:r>
          </a:p>
        </p:txBody>
      </p:sp>
      <p:pic>
        <p:nvPicPr>
          <p:cNvPr id="9" name="Obraz 8" descr="Obraz zawierający szkic, Grafika liniowa, clipart, rysowanie&#10;&#10;Opis wygenerowany automatycznie">
            <a:extLst>
              <a:ext uri="{FF2B5EF4-FFF2-40B4-BE49-F238E27FC236}">
                <a16:creationId xmlns:a16="http://schemas.microsoft.com/office/drawing/2014/main" id="{E0E6F295-89CE-9CF7-6617-B81D15720C8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6603" y="68729"/>
            <a:ext cx="661714" cy="667213"/>
          </a:xfrm>
          <a:prstGeom prst="rect">
            <a:avLst/>
          </a:prstGeom>
        </p:spPr>
      </p:pic>
      <p:sp>
        <p:nvSpPr>
          <p:cNvPr id="5" name="pole tekstowe 4">
            <a:extLst>
              <a:ext uri="{FF2B5EF4-FFF2-40B4-BE49-F238E27FC236}">
                <a16:creationId xmlns:a16="http://schemas.microsoft.com/office/drawing/2014/main" id="{36628961-5B56-E938-3DFE-D68BE91ED81F}"/>
              </a:ext>
            </a:extLst>
          </p:cNvPr>
          <p:cNvSpPr txBox="1"/>
          <p:nvPr/>
        </p:nvSpPr>
        <p:spPr>
          <a:xfrm>
            <a:off x="1096027" y="1107215"/>
            <a:ext cx="499997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4000" dirty="0">
                <a:solidFill>
                  <a:schemeClr val="bg2">
                    <a:lumMod val="10000"/>
                  </a:schemeClr>
                </a:solidFill>
                <a:latin typeface="Source Sans Pro Light" panose="020B0403030403020204" pitchFamily="34" charset="0"/>
              </a:rPr>
              <a:t>Planowane zadania</a:t>
            </a:r>
          </a:p>
        </p:txBody>
      </p:sp>
    </p:spTree>
    <p:extLst>
      <p:ext uri="{BB962C8B-B14F-4D97-AF65-F5344CB8AC3E}">
        <p14:creationId xmlns:p14="http://schemas.microsoft.com/office/powerpoint/2010/main" val="16721264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ole tekstowe 6">
            <a:extLst>
              <a:ext uri="{FF2B5EF4-FFF2-40B4-BE49-F238E27FC236}">
                <a16:creationId xmlns:a16="http://schemas.microsoft.com/office/drawing/2014/main" id="{E29AE5D5-216A-8F8A-666A-883663F0294A}"/>
              </a:ext>
            </a:extLst>
          </p:cNvPr>
          <p:cNvSpPr txBox="1"/>
          <p:nvPr/>
        </p:nvSpPr>
        <p:spPr>
          <a:xfrm>
            <a:off x="332758" y="993578"/>
            <a:ext cx="1007794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4000" dirty="0">
                <a:solidFill>
                  <a:schemeClr val="bg2">
                    <a:lumMod val="10000"/>
                  </a:schemeClr>
                </a:solidFill>
                <a:latin typeface="Source Sans Pro Light" panose="020B0403030403020204" pitchFamily="34" charset="0"/>
              </a:rPr>
              <a:t>Planowane do wykorzystania technologie</a:t>
            </a:r>
          </a:p>
        </p:txBody>
      </p:sp>
      <p:sp>
        <p:nvSpPr>
          <p:cNvPr id="2" name="pole tekstowe 1">
            <a:extLst>
              <a:ext uri="{FF2B5EF4-FFF2-40B4-BE49-F238E27FC236}">
                <a16:creationId xmlns:a16="http://schemas.microsoft.com/office/drawing/2014/main" id="{35CF2DC5-DF9A-B338-14B6-3E66F7C03387}"/>
              </a:ext>
            </a:extLst>
          </p:cNvPr>
          <p:cNvSpPr txBox="1"/>
          <p:nvPr/>
        </p:nvSpPr>
        <p:spPr>
          <a:xfrm>
            <a:off x="5099304" y="2390082"/>
            <a:ext cx="178307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2000" dirty="0">
                <a:solidFill>
                  <a:schemeClr val="bg1"/>
                </a:solidFill>
              </a:rPr>
              <a:t>TYTUŁ</a:t>
            </a:r>
          </a:p>
        </p:txBody>
      </p:sp>
      <p:sp>
        <p:nvSpPr>
          <p:cNvPr id="3" name="pole tekstowe 2">
            <a:extLst>
              <a:ext uri="{FF2B5EF4-FFF2-40B4-BE49-F238E27FC236}">
                <a16:creationId xmlns:a16="http://schemas.microsoft.com/office/drawing/2014/main" id="{607A3ED5-2C06-86E8-CC27-E320D28CFD6A}"/>
              </a:ext>
            </a:extLst>
          </p:cNvPr>
          <p:cNvSpPr txBox="1"/>
          <p:nvPr/>
        </p:nvSpPr>
        <p:spPr>
          <a:xfrm>
            <a:off x="5099304" y="3001036"/>
            <a:ext cx="2086084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1600" dirty="0">
                <a:solidFill>
                  <a:schemeClr val="bg1"/>
                </a:solidFill>
                <a:latin typeface="Source Sans Pro" charset="0"/>
                <a:ea typeface="Source Sans Pro" charset="0"/>
                <a:cs typeface="Source Sans Pro" charset="0"/>
              </a:rPr>
              <a:t>Lorem ipsum dolor sit amet, consectetur adipiscing elit, sed do eiusmod tempor incididunt ut labore et dolore magna aliqua. </a:t>
            </a: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0D4E28C9-4447-8F07-29B4-609C829454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08343" y="2214246"/>
            <a:ext cx="1968462" cy="19684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 descr="GitHub - CesiumGS/cesium: An open-source JavaScript library for world-class  3D globes and maps :earth_americas: · GitHub">
            <a:extLst>
              <a:ext uri="{FF2B5EF4-FFF2-40B4-BE49-F238E27FC236}">
                <a16:creationId xmlns:a16="http://schemas.microsoft.com/office/drawing/2014/main" id="{04E7F101-AF05-A578-D54F-125D623C2A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98324" y="2213508"/>
            <a:ext cx="1969200" cy="1969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6" descr="GitHub - lit/lit: Lit is a simple library for building fast, lightweight  web components. · GitHub">
            <a:extLst>
              <a:ext uri="{FF2B5EF4-FFF2-40B4-BE49-F238E27FC236}">
                <a16:creationId xmlns:a16="http://schemas.microsoft.com/office/drawing/2014/main" id="{20F8C90D-7291-0F44-A1DC-2B407C05511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08343" y="4761876"/>
            <a:ext cx="1969200" cy="1969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10" descr="Home | deck.gl">
            <a:extLst>
              <a:ext uri="{FF2B5EF4-FFF2-40B4-BE49-F238E27FC236}">
                <a16:creationId xmlns:a16="http://schemas.microsoft.com/office/drawing/2014/main" id="{0933D206-D0C4-DA1F-D72D-68ED15FACE4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98324" y="4533805"/>
            <a:ext cx="1969200" cy="1969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pole tekstowe 8">
            <a:extLst>
              <a:ext uri="{FF2B5EF4-FFF2-40B4-BE49-F238E27FC236}">
                <a16:creationId xmlns:a16="http://schemas.microsoft.com/office/drawing/2014/main" id="{02430DA1-89A0-11BD-E99B-C1FB6EC549D4}"/>
              </a:ext>
            </a:extLst>
          </p:cNvPr>
          <p:cNvSpPr txBox="1"/>
          <p:nvPr/>
        </p:nvSpPr>
        <p:spPr>
          <a:xfrm>
            <a:off x="2990898" y="4239663"/>
            <a:ext cx="233140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sz="1400" dirty="0"/>
              <a:t>Implementacja algorytmów</a:t>
            </a:r>
          </a:p>
        </p:txBody>
      </p:sp>
      <p:sp>
        <p:nvSpPr>
          <p:cNvPr id="11" name="pole tekstowe 10">
            <a:extLst>
              <a:ext uri="{FF2B5EF4-FFF2-40B4-BE49-F238E27FC236}">
                <a16:creationId xmlns:a16="http://schemas.microsoft.com/office/drawing/2014/main" id="{5E6797C8-976A-AC4A-D3A3-E9A295C30AC4}"/>
              </a:ext>
            </a:extLst>
          </p:cNvPr>
          <p:cNvSpPr txBox="1"/>
          <p:nvPr/>
        </p:nvSpPr>
        <p:spPr>
          <a:xfrm>
            <a:off x="6198324" y="4238656"/>
            <a:ext cx="1969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sz="1400" dirty="0"/>
              <a:t>Orientacja przestrzenna obiektów</a:t>
            </a:r>
          </a:p>
        </p:txBody>
      </p:sp>
      <p:sp>
        <p:nvSpPr>
          <p:cNvPr id="12" name="pole tekstowe 11">
            <a:extLst>
              <a:ext uri="{FF2B5EF4-FFF2-40B4-BE49-F238E27FC236}">
                <a16:creationId xmlns:a16="http://schemas.microsoft.com/office/drawing/2014/main" id="{369458A0-A563-4280-6C7D-DAF5B25A0CC6}"/>
              </a:ext>
            </a:extLst>
          </p:cNvPr>
          <p:cNvSpPr txBox="1"/>
          <p:nvPr/>
        </p:nvSpPr>
        <p:spPr>
          <a:xfrm>
            <a:off x="3049620" y="6441528"/>
            <a:ext cx="22139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sz="1400" dirty="0"/>
              <a:t>Interfejs użytkownika</a:t>
            </a:r>
          </a:p>
        </p:txBody>
      </p:sp>
      <p:sp>
        <p:nvSpPr>
          <p:cNvPr id="13" name="pole tekstowe 12">
            <a:extLst>
              <a:ext uri="{FF2B5EF4-FFF2-40B4-BE49-F238E27FC236}">
                <a16:creationId xmlns:a16="http://schemas.microsoft.com/office/drawing/2014/main" id="{7ED0292F-BEA3-71E8-B6AE-D34AE5DB8DA1}"/>
              </a:ext>
            </a:extLst>
          </p:cNvPr>
          <p:cNvSpPr txBox="1"/>
          <p:nvPr/>
        </p:nvSpPr>
        <p:spPr>
          <a:xfrm>
            <a:off x="6075944" y="6241395"/>
            <a:ext cx="22139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sz="1400" dirty="0"/>
              <a:t>Wyświetlanie zbiorów danych</a:t>
            </a:r>
          </a:p>
        </p:txBody>
      </p:sp>
    </p:spTree>
    <p:extLst>
      <p:ext uri="{BB962C8B-B14F-4D97-AF65-F5344CB8AC3E}">
        <p14:creationId xmlns:p14="http://schemas.microsoft.com/office/powerpoint/2010/main" val="25974481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627D129A-8D17-54C0-D184-C82D8DC00F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Przegląd literatury</a:t>
            </a:r>
            <a:endParaRPr lang="pl-PL" dirty="0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CE194724-C3FA-BCE1-AB18-04B173F551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pl-PL" dirty="0"/>
              <a:t>[1] B. </a:t>
            </a:r>
            <a:r>
              <a:rPr lang="pl-PL" dirty="0" err="1"/>
              <a:t>Krebl</a:t>
            </a:r>
            <a:r>
              <a:rPr lang="pl-PL" dirty="0"/>
              <a:t>, G. </a:t>
            </a:r>
            <a:r>
              <a:rPr lang="pl-PL" dirty="0" err="1"/>
              <a:t>Kopanas</a:t>
            </a:r>
            <a:r>
              <a:rPr lang="pl-PL" dirty="0"/>
              <a:t>, T. </a:t>
            </a:r>
            <a:r>
              <a:rPr lang="pl-PL" dirty="0" err="1"/>
              <a:t>Leimkühler</a:t>
            </a:r>
            <a:r>
              <a:rPr lang="pl-PL" dirty="0"/>
              <a:t>, i G. </a:t>
            </a:r>
            <a:r>
              <a:rPr lang="pl-PL" dirty="0" err="1"/>
              <a:t>Drettakis</a:t>
            </a:r>
            <a:r>
              <a:rPr lang="pl-PL" dirty="0"/>
              <a:t>, „3D </a:t>
            </a:r>
            <a:r>
              <a:rPr lang="pl-PL" dirty="0" err="1"/>
              <a:t>Gaussian</a:t>
            </a:r>
            <a:r>
              <a:rPr lang="pl-PL" dirty="0"/>
              <a:t> </a:t>
            </a:r>
            <a:r>
              <a:rPr lang="pl-PL" dirty="0" err="1"/>
              <a:t>Splatting</a:t>
            </a:r>
            <a:r>
              <a:rPr lang="pl-PL" dirty="0"/>
              <a:t> for Real-Time </a:t>
            </a:r>
            <a:r>
              <a:rPr lang="pl-PL" dirty="0" err="1"/>
              <a:t>Radiance</a:t>
            </a:r>
            <a:r>
              <a:rPr lang="pl-PL" dirty="0"/>
              <a:t> Field Rendering”. [Online]. Dostępne na: </a:t>
            </a:r>
            <a:r>
              <a:rPr lang="pl-PL" dirty="0">
                <a:hlinkClick r:id="rId2"/>
              </a:rPr>
              <a:t>https://repo-sam.inria.fr/fungraph/3d-gaussian-splatting/</a:t>
            </a:r>
            <a:endParaRPr lang="pl-PL" dirty="0"/>
          </a:p>
          <a:p>
            <a:endParaRPr lang="pl-PL" dirty="0"/>
          </a:p>
          <a:p>
            <a:r>
              <a:rPr lang="pl-PL" dirty="0"/>
              <a:t>[2] „3D </a:t>
            </a:r>
            <a:r>
              <a:rPr lang="pl-PL" dirty="0" err="1"/>
              <a:t>Gaussian</a:t>
            </a:r>
            <a:r>
              <a:rPr lang="pl-PL" dirty="0"/>
              <a:t> </a:t>
            </a:r>
            <a:r>
              <a:rPr lang="pl-PL" dirty="0" err="1"/>
              <a:t>Splatting</a:t>
            </a:r>
            <a:r>
              <a:rPr lang="pl-PL" dirty="0"/>
              <a:t> as a New Era: A </a:t>
            </a:r>
            <a:r>
              <a:rPr lang="pl-PL" dirty="0" err="1"/>
              <a:t>Survey</a:t>
            </a:r>
            <a:r>
              <a:rPr lang="pl-PL" dirty="0"/>
              <a:t>”. Dostęp: 14 kwietnia 2026. [Online]. Dostępne na: </a:t>
            </a:r>
            <a:r>
              <a:rPr lang="pl-PL" dirty="0">
                <a:hlinkClick r:id="rId3"/>
              </a:rPr>
              <a:t>https://arxiv.org/pdf/2402.07181</a:t>
            </a:r>
            <a:endParaRPr lang="pl-PL" dirty="0"/>
          </a:p>
          <a:p>
            <a:endParaRPr lang="pl-PL" dirty="0"/>
          </a:p>
          <a:p>
            <a:r>
              <a:rPr lang="pl-PL" dirty="0"/>
              <a:t>[3] M. </a:t>
            </a:r>
            <a:r>
              <a:rPr lang="pl-PL" dirty="0" err="1"/>
              <a:t>Khedr</a:t>
            </a:r>
            <a:r>
              <a:rPr lang="pl-PL" dirty="0"/>
              <a:t> </a:t>
            </a:r>
            <a:r>
              <a:rPr lang="pl-PL" i="1" dirty="0"/>
              <a:t>et al.</a:t>
            </a:r>
            <a:r>
              <a:rPr lang="pl-PL" dirty="0"/>
              <a:t>, „3D </a:t>
            </a:r>
            <a:r>
              <a:rPr lang="pl-PL" dirty="0" err="1"/>
              <a:t>visualization</a:t>
            </a:r>
            <a:r>
              <a:rPr lang="pl-PL" dirty="0"/>
              <a:t> of </a:t>
            </a:r>
            <a:r>
              <a:rPr lang="pl-PL" dirty="0" err="1"/>
              <a:t>damaged</a:t>
            </a:r>
            <a:r>
              <a:rPr lang="pl-PL" dirty="0"/>
              <a:t> </a:t>
            </a:r>
            <a:r>
              <a:rPr lang="pl-PL" dirty="0" err="1"/>
              <a:t>statues</a:t>
            </a:r>
            <a:r>
              <a:rPr lang="pl-PL" dirty="0"/>
              <a:t> </a:t>
            </a:r>
            <a:r>
              <a:rPr lang="pl-PL" dirty="0" err="1"/>
              <a:t>using</a:t>
            </a:r>
            <a:r>
              <a:rPr lang="pl-PL" dirty="0"/>
              <a:t> </a:t>
            </a:r>
            <a:r>
              <a:rPr lang="pl-PL" dirty="0" err="1"/>
              <a:t>Gaussian</a:t>
            </a:r>
            <a:r>
              <a:rPr lang="pl-PL" dirty="0"/>
              <a:t> </a:t>
            </a:r>
            <a:r>
              <a:rPr lang="pl-PL" dirty="0" err="1"/>
              <a:t>splatting</a:t>
            </a:r>
            <a:r>
              <a:rPr lang="pl-PL" dirty="0"/>
              <a:t> and web </a:t>
            </a:r>
            <a:r>
              <a:rPr lang="pl-PL" dirty="0" err="1"/>
              <a:t>interface</a:t>
            </a:r>
            <a:r>
              <a:rPr lang="pl-PL" dirty="0"/>
              <a:t> </a:t>
            </a:r>
            <a:r>
              <a:rPr lang="pl-PL" dirty="0" err="1"/>
              <a:t>integration</a:t>
            </a:r>
            <a:r>
              <a:rPr lang="pl-PL" dirty="0"/>
              <a:t>”, </a:t>
            </a:r>
            <a:r>
              <a:rPr lang="pl-PL" i="1" dirty="0" err="1"/>
              <a:t>npj</a:t>
            </a:r>
            <a:r>
              <a:rPr lang="pl-PL" i="1" dirty="0"/>
              <a:t> </a:t>
            </a:r>
            <a:r>
              <a:rPr lang="pl-PL" i="1" dirty="0" err="1"/>
              <a:t>Herit</a:t>
            </a:r>
            <a:r>
              <a:rPr lang="pl-PL" i="1" dirty="0"/>
              <a:t>. </a:t>
            </a:r>
            <a:r>
              <a:rPr lang="pl-PL" i="1" dirty="0" err="1"/>
              <a:t>Sci</a:t>
            </a:r>
            <a:r>
              <a:rPr lang="pl-PL" i="1" dirty="0"/>
              <a:t>.</a:t>
            </a:r>
            <a:r>
              <a:rPr lang="pl-PL" dirty="0"/>
              <a:t>, t. 13, nr 1, s. 587, lis. 2025, doi: </a:t>
            </a:r>
            <a:r>
              <a:rPr lang="pl-PL" dirty="0">
                <a:hlinkClick r:id="rId4"/>
              </a:rPr>
              <a:t>10.1038/s40494-025-02063-5</a:t>
            </a:r>
            <a:r>
              <a:rPr lang="pl-PL" dirty="0"/>
              <a:t>.</a:t>
            </a:r>
          </a:p>
          <a:p>
            <a:endParaRPr lang="pl-PL" dirty="0"/>
          </a:p>
          <a:p>
            <a:r>
              <a:rPr lang="pl-PL" dirty="0"/>
              <a:t>[4] „</a:t>
            </a:r>
            <a:r>
              <a:rPr lang="pl-PL" dirty="0" err="1"/>
              <a:t>Compressed</a:t>
            </a:r>
            <a:r>
              <a:rPr lang="pl-PL" dirty="0"/>
              <a:t> 3D </a:t>
            </a:r>
            <a:r>
              <a:rPr lang="pl-PL" dirty="0" err="1"/>
              <a:t>Gaussian</a:t>
            </a:r>
            <a:r>
              <a:rPr lang="pl-PL" dirty="0"/>
              <a:t> </a:t>
            </a:r>
            <a:r>
              <a:rPr lang="pl-PL" dirty="0" err="1"/>
              <a:t>Splatting</a:t>
            </a:r>
            <a:r>
              <a:rPr lang="pl-PL" dirty="0"/>
              <a:t> for </a:t>
            </a:r>
            <a:r>
              <a:rPr lang="pl-PL" dirty="0" err="1"/>
              <a:t>Accelerated</a:t>
            </a:r>
            <a:r>
              <a:rPr lang="pl-PL" dirty="0"/>
              <a:t> </a:t>
            </a:r>
            <a:r>
              <a:rPr lang="pl-PL" dirty="0" err="1"/>
              <a:t>Novel</a:t>
            </a:r>
            <a:r>
              <a:rPr lang="pl-PL" dirty="0"/>
              <a:t> </a:t>
            </a:r>
            <a:r>
              <a:rPr lang="pl-PL" dirty="0" err="1"/>
              <a:t>View</a:t>
            </a:r>
            <a:r>
              <a:rPr lang="pl-PL" dirty="0"/>
              <a:t> </a:t>
            </a:r>
            <a:r>
              <a:rPr lang="pl-PL" dirty="0" err="1"/>
              <a:t>Synthesis</a:t>
            </a:r>
            <a:r>
              <a:rPr lang="pl-PL" dirty="0"/>
              <a:t>”. Dostęp: 14 kwietnia 2026. [Online]. Dostępne na: </a:t>
            </a:r>
            <a:r>
              <a:rPr lang="pl-PL" dirty="0">
                <a:hlinkClick r:id="rId5"/>
              </a:rPr>
              <a:t>https://openaccess.thecvf.com/content/CVPR2024/papers/Niedermayr_Compressed_3D_Gaussian_Splatting_for_Accelerated_Novel_View_Synthesis_CVPR_2024_paper.pdf</a:t>
            </a:r>
            <a:endParaRPr lang="pl-PL" dirty="0"/>
          </a:p>
          <a:p>
            <a:endParaRPr lang="pl-PL" dirty="0"/>
          </a:p>
          <a:p>
            <a:r>
              <a:rPr lang="pl-PL" dirty="0"/>
              <a:t>[5] N. C. </a:t>
            </a:r>
            <a:r>
              <a:rPr lang="pl-PL" dirty="0" err="1"/>
              <a:t>Zakas</a:t>
            </a:r>
            <a:r>
              <a:rPr lang="pl-PL" dirty="0"/>
              <a:t>, </a:t>
            </a:r>
            <a:r>
              <a:rPr lang="pl-PL" i="1" dirty="0"/>
              <a:t>Professional JavaScript for Web Developers</a:t>
            </a:r>
            <a:r>
              <a:rPr lang="pl-PL" dirty="0"/>
              <a:t>. John </a:t>
            </a:r>
            <a:r>
              <a:rPr lang="pl-PL" dirty="0" err="1"/>
              <a:t>Wiley</a:t>
            </a:r>
            <a:r>
              <a:rPr lang="pl-PL" dirty="0"/>
              <a:t> &amp; Sons, 2011.</a:t>
            </a:r>
          </a:p>
          <a:p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36938222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AC30F0E8-D9F0-669E-FCF0-189FB27646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Haromonogram pracy</a:t>
            </a:r>
          </a:p>
        </p:txBody>
      </p:sp>
      <p:graphicFrame>
        <p:nvGraphicFramePr>
          <p:cNvPr id="4" name="Symbol zastępczy zawartości 3">
            <a:extLst>
              <a:ext uri="{FF2B5EF4-FFF2-40B4-BE49-F238E27FC236}">
                <a16:creationId xmlns:a16="http://schemas.microsoft.com/office/drawing/2014/main" id="{B521ECFA-7D3E-A16D-17B1-C99FD3E358F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24671904"/>
              </p:ext>
            </p:extLst>
          </p:nvPr>
        </p:nvGraphicFramePr>
        <p:xfrm>
          <a:off x="189781" y="1825624"/>
          <a:ext cx="11714668" cy="37890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73524">
                  <a:extLst>
                    <a:ext uri="{9D8B030D-6E8A-4147-A177-3AD203B41FA5}">
                      <a16:colId xmlns:a16="http://schemas.microsoft.com/office/drawing/2014/main" val="1310242598"/>
                    </a:ext>
                  </a:extLst>
                </a:gridCol>
                <a:gridCol w="1673524">
                  <a:extLst>
                    <a:ext uri="{9D8B030D-6E8A-4147-A177-3AD203B41FA5}">
                      <a16:colId xmlns:a16="http://schemas.microsoft.com/office/drawing/2014/main" val="2388519832"/>
                    </a:ext>
                  </a:extLst>
                </a:gridCol>
                <a:gridCol w="1673524">
                  <a:extLst>
                    <a:ext uri="{9D8B030D-6E8A-4147-A177-3AD203B41FA5}">
                      <a16:colId xmlns:a16="http://schemas.microsoft.com/office/drawing/2014/main" val="1454673312"/>
                    </a:ext>
                  </a:extLst>
                </a:gridCol>
                <a:gridCol w="1673524">
                  <a:extLst>
                    <a:ext uri="{9D8B030D-6E8A-4147-A177-3AD203B41FA5}">
                      <a16:colId xmlns:a16="http://schemas.microsoft.com/office/drawing/2014/main" val="413173107"/>
                    </a:ext>
                  </a:extLst>
                </a:gridCol>
                <a:gridCol w="1673524">
                  <a:extLst>
                    <a:ext uri="{9D8B030D-6E8A-4147-A177-3AD203B41FA5}">
                      <a16:colId xmlns:a16="http://schemas.microsoft.com/office/drawing/2014/main" val="1466360197"/>
                    </a:ext>
                  </a:extLst>
                </a:gridCol>
                <a:gridCol w="1906441">
                  <a:extLst>
                    <a:ext uri="{9D8B030D-6E8A-4147-A177-3AD203B41FA5}">
                      <a16:colId xmlns:a16="http://schemas.microsoft.com/office/drawing/2014/main" val="1764601973"/>
                    </a:ext>
                  </a:extLst>
                </a:gridCol>
                <a:gridCol w="1440607">
                  <a:extLst>
                    <a:ext uri="{9D8B030D-6E8A-4147-A177-3AD203B41FA5}">
                      <a16:colId xmlns:a16="http://schemas.microsoft.com/office/drawing/2014/main" val="814954162"/>
                    </a:ext>
                  </a:extLst>
                </a:gridCol>
              </a:tblGrid>
              <a:tr h="710542">
                <a:tc>
                  <a:txBody>
                    <a:bodyPr/>
                    <a:lstStyle/>
                    <a:p>
                      <a:r>
                        <a:rPr lang="pl-PL" dirty="0"/>
                        <a:t>Okres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l-PL" dirty="0"/>
                        <a:t>Kwiecień – Maj 2026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l-PL" dirty="0"/>
                        <a:t>Czerwiec – Lipiec 2026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l-PL" dirty="0"/>
                        <a:t>Sierpień – Wrzesień 2026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l-PL" dirty="0"/>
                        <a:t>Październik – Listopad 2026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l-PL" dirty="0"/>
                        <a:t>Grudzień 2026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l-PL" dirty="0"/>
                        <a:t>Styczeń 2026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23166507"/>
                  </a:ext>
                </a:extLst>
              </a:tr>
              <a:tr h="1472392">
                <a:tc>
                  <a:txBody>
                    <a:bodyPr/>
                    <a:lstStyle/>
                    <a:p>
                      <a:pPr algn="ctr"/>
                      <a:endParaRPr lang="pl-PL" sz="1400" dirty="0"/>
                    </a:p>
                    <a:p>
                      <a:pPr algn="ctr"/>
                      <a:endParaRPr lang="pl-PL" sz="1400" dirty="0"/>
                    </a:p>
                    <a:p>
                      <a:pPr algn="ctr"/>
                      <a:endParaRPr lang="pl-PL" sz="1400" dirty="0"/>
                    </a:p>
                    <a:p>
                      <a:pPr algn="ctr"/>
                      <a:endParaRPr lang="pl-PL" sz="1400" dirty="0"/>
                    </a:p>
                    <a:p>
                      <a:pPr algn="ctr"/>
                      <a:endParaRPr lang="pl-PL" sz="1400" dirty="0"/>
                    </a:p>
                    <a:p>
                      <a:pPr algn="ctr"/>
                      <a:endParaRPr lang="pl-PL" sz="1400" dirty="0"/>
                    </a:p>
                    <a:p>
                      <a:pPr algn="ctr"/>
                      <a:endParaRPr lang="pl-PL" sz="1400" dirty="0"/>
                    </a:p>
                    <a:p>
                      <a:pPr algn="ctr"/>
                      <a:r>
                        <a:rPr lang="pl-PL" sz="1400" dirty="0"/>
                        <a:t>Etap pracy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l-PL" sz="1400" dirty="0"/>
                        <a:t>Przegląd literatury i pogłębianie wiedzy o </a:t>
                      </a:r>
                      <a:r>
                        <a:rPr lang="pl-PL" sz="1400" dirty="0" err="1"/>
                        <a:t>Gaussian</a:t>
                      </a:r>
                      <a:r>
                        <a:rPr lang="pl-PL" sz="1400" dirty="0"/>
                        <a:t> </a:t>
                      </a:r>
                      <a:r>
                        <a:rPr lang="pl-PL" sz="1400" dirty="0" err="1"/>
                        <a:t>Splatting</a:t>
                      </a:r>
                      <a:r>
                        <a:rPr lang="pl-PL" sz="1400" dirty="0"/>
                        <a:t> oraz testowanie dostępnych narzędzi (np. </a:t>
                      </a:r>
                      <a:r>
                        <a:rPr lang="pl-PL" sz="1400" dirty="0" err="1"/>
                        <a:t>SuperSplat</a:t>
                      </a:r>
                      <a:r>
                        <a:rPr lang="pl-PL" sz="1400" dirty="0"/>
                        <a:t>) w celu zdefiniowania wymagań i ograniczeń projektu. Wstępna konfiguracja środowiska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l-PL" sz="1400" dirty="0"/>
                        <a:t>Integracja silnika </a:t>
                      </a:r>
                      <a:r>
                        <a:rPr lang="pl-PL" sz="1400" dirty="0" err="1"/>
                        <a:t>CesiumJS</a:t>
                      </a:r>
                      <a:r>
                        <a:rPr lang="pl-PL" sz="1400" dirty="0"/>
                        <a:t> z warstwą renderującą </a:t>
                      </a:r>
                      <a:r>
                        <a:rPr lang="pl-PL" sz="1400" dirty="0" err="1"/>
                        <a:t>DeckGL</a:t>
                      </a:r>
                      <a:r>
                        <a:rPr lang="pl-PL" sz="1400" dirty="0"/>
                        <a:t>. Rozpoczęcie sporządzania tekstu pracy inżynierskiej.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l-PL" sz="1400" dirty="0"/>
                        <a:t>Budowa interfejsu w Lit oraz implementacja narzędzi do edycji. Prace nad modułami nawigacji wewnątrz platformy.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l-PL" sz="1400" dirty="0"/>
                        <a:t>Testy wydajnościowe platformy na różnych zbiorach danych. Optymalizacja pod kątem płynności interakcji i obsługi serwisu.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l-PL" sz="1400" dirty="0"/>
                        <a:t>Wprowadzenie ostatnich poprawek w działaniu serwisu. Redakcja tekstu pracy inżynierskiej, opisanie zaimplementowanych algorytmów i wyników testów.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l-PL" sz="1400" dirty="0"/>
                        <a:t>Złożenie pracy, przygotowanie do prezentacji i obrony projektu.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588634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00953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D2630364-FE7D-363B-0E70-B74A91A46D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A78DBFC9-81B9-3523-76E5-4495386C52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1738343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242D945E-0398-B511-3B7A-9800BA7D95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ABCA9DC4-FFEC-4083-1F65-2C0C08F6CC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0916888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C5DBF0CE-5DCF-E872-B7A0-E0B9306AB8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FC9D2836-A29E-171A-77F2-E168AB1FFE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23174323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ole tekstowe 6">
            <a:extLst>
              <a:ext uri="{FF2B5EF4-FFF2-40B4-BE49-F238E27FC236}">
                <a16:creationId xmlns:a16="http://schemas.microsoft.com/office/drawing/2014/main" id="{0CBC331D-8069-B1C8-0B2C-BC64036C1009}"/>
              </a:ext>
            </a:extLst>
          </p:cNvPr>
          <p:cNvSpPr txBox="1"/>
          <p:nvPr/>
        </p:nvSpPr>
        <p:spPr>
          <a:xfrm>
            <a:off x="6195330" y="2083090"/>
            <a:ext cx="5699343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6000" dirty="0">
                <a:solidFill>
                  <a:schemeClr val="bg1"/>
                </a:solidFill>
                <a:latin typeface="Source Sans Pro Light" panose="020B0403030403020204" pitchFamily="34" charset="0"/>
              </a:rPr>
              <a:t>Dziękuję</a:t>
            </a:r>
          </a:p>
          <a:p>
            <a:r>
              <a:rPr lang="pl-PL" sz="6000" dirty="0">
                <a:solidFill>
                  <a:schemeClr val="bg1"/>
                </a:solidFill>
                <a:latin typeface="Source Sans Pro Light" panose="020B0403030403020204" pitchFamily="34" charset="0"/>
              </a:rPr>
              <a:t>za uwagę</a:t>
            </a:r>
          </a:p>
        </p:txBody>
      </p:sp>
      <p:pic>
        <p:nvPicPr>
          <p:cNvPr id="9" name="Obraz 8" descr="Obraz zawierający szkic, Grafika liniowa, clipart, rysowanie&#10;&#10;Opis wygenerowany automatycznie">
            <a:extLst>
              <a:ext uri="{FF2B5EF4-FFF2-40B4-BE49-F238E27FC236}">
                <a16:creationId xmlns:a16="http://schemas.microsoft.com/office/drawing/2014/main" id="{9735467A-D861-C2FE-EE1F-20CD71DF054C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412407" y="-139092"/>
            <a:ext cx="7348771" cy="74098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6872128"/>
      </p:ext>
    </p:extLst>
  </p:cSld>
  <p:clrMapOvr>
    <a:masterClrMapping/>
  </p:clrMapOvr>
</p:sld>
</file>

<file path=ppt/theme/theme1.xml><?xml version="1.0" encoding="utf-8"?>
<a:theme xmlns:a="http://schemas.openxmlformats.org/drawingml/2006/main" name="1_Motyw pakietu Office">
  <a:themeElements>
    <a:clrScheme name="Politechnika Warszawska">
      <a:dk1>
        <a:srgbClr val="006872"/>
      </a:dk1>
      <a:lt1>
        <a:sysClr val="window" lastClr="FFFFFF"/>
      </a:lt1>
      <a:dk2>
        <a:srgbClr val="004A6C"/>
      </a:dk2>
      <a:lt2>
        <a:srgbClr val="E7E6E6"/>
      </a:lt2>
      <a:accent1>
        <a:srgbClr val="3466AF"/>
      </a:accent1>
      <a:accent2>
        <a:srgbClr val="E7A217"/>
      </a:accent2>
      <a:accent3>
        <a:srgbClr val="C8C1B6"/>
      </a:accent3>
      <a:accent4>
        <a:srgbClr val="E63312"/>
      </a:accent4>
      <a:accent5>
        <a:srgbClr val="9A0F06"/>
      </a:accent5>
      <a:accent6>
        <a:srgbClr val="C0D1C8"/>
      </a:accent6>
      <a:hlink>
        <a:srgbClr val="007C91"/>
      </a:hlink>
      <a:folHlink>
        <a:srgbClr val="5E3156"/>
      </a:folHlink>
    </a:clrScheme>
    <a:fontScheme name="Source Sans Pro">
      <a:majorFont>
        <a:latin typeface="Source Sans Pro"/>
        <a:ea typeface=""/>
        <a:cs typeface=""/>
      </a:majorFont>
      <a:minorFont>
        <a:latin typeface="Source Sans Pro"/>
        <a:ea typeface=""/>
        <a:cs typeface=""/>
      </a:minorFont>
    </a:fontScheme>
    <a:fmtScheme name="Pakiet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DAB3D334943FF343A4FE791334FB9567" ma:contentTypeVersion="3" ma:contentTypeDescription="Utwórz nowy dokument." ma:contentTypeScope="" ma:versionID="a7290a0f7f614b4aedf93d83683dbb9c">
  <xsd:schema xmlns:xsd="http://www.w3.org/2001/XMLSchema" xmlns:xs="http://www.w3.org/2001/XMLSchema" xmlns:p="http://schemas.microsoft.com/office/2006/metadata/properties" xmlns:ns2="8cc4fd7b-0031-4f58-baf2-66e16ac567aa" targetNamespace="http://schemas.microsoft.com/office/2006/metadata/properties" ma:root="true" ma:fieldsID="8c73110abac5b4da7c3b79f889ee49fe" ns2:_="">
    <xsd:import namespace="8cc4fd7b-0031-4f58-baf2-66e16ac567a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cc4fd7b-0031-4f58-baf2-66e16ac567a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 zawartości"/>
        <xsd:element ref="dc:title" minOccurs="0" maxOccurs="1" ma:index="4" ma:displayName="Tytuł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63A7B061-43DB-4FB6-8BE3-3A1C29BF5C9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8cc4fd7b-0031-4f58-baf2-66e16ac567aa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60BFD26B-195B-4D9D-83F8-EF9EF218BBFC}">
  <ds:schemaRefs>
    <ds:schemaRef ds:uri="http://schemas.microsoft.com/office/2006/metadata/properties"/>
    <ds:schemaRef ds:uri="http://schemas.microsoft.com/office/infopath/2007/PartnerControls"/>
    <ds:schemaRef ds:uri="d8301284-0e13-42aa-bfb2-849dd2e9fdd8"/>
    <ds:schemaRef ds:uri="fca3fa48-ee18-4258-80e9-c2e987ae0fe6"/>
  </ds:schemaRefs>
</ds:datastoreItem>
</file>

<file path=customXml/itemProps3.xml><?xml version="1.0" encoding="utf-8"?>
<ds:datastoreItem xmlns:ds="http://schemas.openxmlformats.org/officeDocument/2006/customXml" ds:itemID="{C7D30935-1AC9-4C6E-A060-D39FB7C4DD3E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656</TotalTime>
  <Words>548</Words>
  <Application>Microsoft Office PowerPoint</Application>
  <PresentationFormat>Panoramiczny</PresentationFormat>
  <Paragraphs>62</Paragraphs>
  <Slides>11</Slides>
  <Notes>0</Notes>
  <HiddenSlides>0</HiddenSlides>
  <MMClips>0</MMClips>
  <ScaleCrop>false</ScaleCrop>
  <HeadingPairs>
    <vt:vector size="6" baseType="variant">
      <vt:variant>
        <vt:lpstr>Używane czcionki</vt:lpstr>
      </vt:variant>
      <vt:variant>
        <vt:i4>4</vt:i4>
      </vt:variant>
      <vt:variant>
        <vt:lpstr>Motyw</vt:lpstr>
      </vt:variant>
      <vt:variant>
        <vt:i4>1</vt:i4>
      </vt:variant>
      <vt:variant>
        <vt:lpstr>Tytuły slajdów</vt:lpstr>
      </vt:variant>
      <vt:variant>
        <vt:i4>11</vt:i4>
      </vt:variant>
    </vt:vector>
  </HeadingPairs>
  <TitlesOfParts>
    <vt:vector size="16" baseType="lpstr">
      <vt:lpstr>Arial</vt:lpstr>
      <vt:lpstr>Source Sans Pro</vt:lpstr>
      <vt:lpstr>Source Sans Pro Light</vt:lpstr>
      <vt:lpstr>Source Serif Pro</vt:lpstr>
      <vt:lpstr>1_Motyw pakietu Office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Przegląd literatury</vt:lpstr>
      <vt:lpstr>Haromonogram pracy</vt:lpstr>
      <vt:lpstr>Prezentacja programu PowerPoint</vt:lpstr>
      <vt:lpstr>Prezentacja programu PowerPoint</vt:lpstr>
      <vt:lpstr>Prezentacja programu PowerPoint</vt:lpstr>
      <vt:lpstr>Prezentacja programu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Prezentacja programu PowerPoint</dc:title>
  <dc:creator>Majchrzyk Monika</dc:creator>
  <cp:lastModifiedBy>Kacprzyk Marcin (STUD)</cp:lastModifiedBy>
  <cp:revision>2</cp:revision>
  <dcterms:created xsi:type="dcterms:W3CDTF">2023-03-17T09:04:36Z</dcterms:created>
  <dcterms:modified xsi:type="dcterms:W3CDTF">2026-05-25T15:18:52Z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0x010100DAB3D334943FF343A4FE791334FB9567</vt:lpwstr>
  </property>
  <property fmtid="{D5CDD505-2E9C-101B-9397-08002B2CF9AE}" pid="3" name="MediaServiceImageTags">
    <vt:lpwstr/>
  </property>
</Properties>
</file>